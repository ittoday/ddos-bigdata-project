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2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907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DDoS Big Data Analytics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6276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94560"/>
                </a:solidFill>
              </a:rPr>
              <a:t>and Recommendation System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2423160"/>
            <a:ext cx="41148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AF0"/>
                </a:solidFill>
              </a:rPr>
              <a:t>Benjamine. S  (258762A)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AF0"/>
                </a:solidFill>
              </a:rPr>
              <a:t>MSc Artificial Intelligence  —  Batch 18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AF0"/>
                </a:solidFill>
              </a:rPr>
              <a:t>University of Moratuwa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AF0"/>
                </a:solidFill>
              </a:rPr>
              <a:t>IT5612  Big Data Analytics Mini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BCCC-cPacket-Cloud-DDoS-2024  |  Apache Spark (PySpark)  | 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and Motivation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Why Big Data?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261872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Network traffic data grows faster than a single machine can handle.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334155"/>
                </a:solidFill>
              </a:rPr>
              <a:t>The BCCC dataset: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540,494 network flow records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319 features per flow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172 million data points total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Pandas loads everything into RAM before any operation. On a laptop this exhausts memory before the first query completes.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PySpark distributes data across partitions. Only small aggregated results (e.g. a 26-row groupBy) are ever collected to the driver.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868680"/>
            <a:ext cx="0" cy="3566160"/>
          </a:xfrm>
          <a:prstGeom prst="line">
            <a:avLst/>
          </a:prstGeom>
          <a:noFill/>
          <a:ln w="12700">
            <a:solidFill>
              <a:srgbClr val="E8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0916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Why a Recommendation System?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09160" y="1261872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A SOC analyst observing a DDoS attack needs to know: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0F3460"/>
                </a:solidFill>
              </a:rPr>
              <a:t>“Given this service is experiencing attack type X,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0F3460"/>
                </a:solidFill>
              </a:rPr>
              <a:t>which other attack types should I prepare defences for?”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17 distinct DDoS attack variants exist in the dataset. Each has a different mechanism. No analyst can monitor all simultaneously.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A recommendation system surfaces the most relevant threats automatically — based on observed co-occurrence patterns and traffic feature similarity.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Dataset and System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BCCC-cPacket-Cloud-DDoS-2024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12801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070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Source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64208" y="12070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York University / cPacket Networks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12801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Published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64208" y="15544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March 2024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12801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19019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License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64208" y="19019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CC-BY-SA-4.0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249424"/>
            <a:ext cx="12801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2494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Flows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64208" y="22494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540,494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596896"/>
            <a:ext cx="12801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5968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64208" y="25968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319 per flow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44368"/>
            <a:ext cx="12801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9443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Attack types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64208" y="2944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17 distinct DDoS variants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291840"/>
            <a:ext cx="12801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32918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Format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64208" y="3291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Parquet  (29.5 MB compressed)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639312"/>
            <a:ext cx="12801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36393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Access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64208" y="36393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Kaggle API — automated download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8229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System Pipeline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0" y="1170432"/>
            <a:ext cx="4206240" cy="502920"/>
          </a:xfrm>
          <a:prstGeom prst="rect">
            <a:avLst/>
          </a:prstGeom>
          <a:solidFill>
            <a:srgbClr val="374151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63440" y="12070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Kaggle API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1444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</a:rPr>
              <a:t>Raw Parquet download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75120" y="1673352"/>
            <a:ext cx="0" cy="21031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0" y="1883664"/>
            <a:ext cx="4206240" cy="502920"/>
          </a:xfrm>
          <a:prstGeom prst="rect">
            <a:avLst/>
          </a:prstGeom>
          <a:solidFill>
            <a:srgbClr val="0F3460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63440" y="19202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 A — Spark EDA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63440" y="21579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</a:rPr>
              <a:t>5 analytical questions answered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75120" y="2386584"/>
            <a:ext cx="0" cy="21031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0" y="2596896"/>
            <a:ext cx="4206240" cy="502920"/>
          </a:xfrm>
          <a:prstGeom prst="rect">
            <a:avLst/>
          </a:prstGeom>
          <a:solidFill>
            <a:srgbClr val="0F5132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63440" y="26334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 Centroids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63440" y="28712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</a:rPr>
              <a:t>Part A → Part B bridge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75120" y="3099816"/>
            <a:ext cx="0" cy="21031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572000" y="3310128"/>
            <a:ext cx="4206240" cy="502920"/>
          </a:xfrm>
          <a:prstGeom prst="rect">
            <a:avLst/>
          </a:prstGeom>
          <a:solidFill>
            <a:srgbClr val="7C3AED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63440" y="33467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 B — Recommendation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0" y="35844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</a:rPr>
              <a:t>CF + ALS + Content + LLM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675120" y="3813048"/>
            <a:ext cx="0" cy="21031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72000" y="4023360"/>
            <a:ext cx="4206240" cy="502920"/>
          </a:xfrm>
          <a:prstGeom prst="rect">
            <a:avLst/>
          </a:prstGeom>
          <a:solidFill>
            <a:srgbClr val="E94560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663440" y="405993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Streamlit UI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663440" y="42976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</a:rPr>
              <a:t>Interactive SOC analyst tool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A — Data Processing with Apache Spark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589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What Spark concepts were applied and why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816352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64008" cy="1737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SparkSession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99616"/>
            <a:ext cx="25877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Single entry point to all Spark functionality. Replaced legacy SparkContext + SQLContext. Configured with shuffle.partitions=8 (default 200 is wasteful on one node) and driver.memory=4g for the 319-column schema.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1097280"/>
            <a:ext cx="2816352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72968" y="1097280"/>
            <a:ext cx="64008" cy="173736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10128" y="118872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Parquet Format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499616"/>
            <a:ext cx="25877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Columnar binary format. Schema embedded in file metadata — no inferSchema scan needed. Faster reads than CSV. 29.5 MB compressed versus ~300 MB CSV equivalent.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17336" y="1097280"/>
            <a:ext cx="2816352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17336" y="1097280"/>
            <a:ext cx="64008" cy="173736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54496" y="118872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DataFrame over RDD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54496" y="1499616"/>
            <a:ext cx="25877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319-column structured data. RDD would need explicit type handling for every column (hundreds of lines). DataFrame provides schema awareness, Catalyst optimiser, and SparkSQL mixing in one API.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971800"/>
            <a:ext cx="2816352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8600" y="297180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0632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SparkSQL + Window Functions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374136"/>
            <a:ext cx="25877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spark.sql() with createOrReplaceTempView. SUM(COUNT(*)) OVER() computes grand totals without a subquery. RANK() OVER() ranks attack types by intensity. Both directly from the SparkSQL practical notebook.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72968" y="2971800"/>
            <a:ext cx="2816352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72968" y="2971800"/>
            <a:ext cx="64008" cy="17373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10128" y="30632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groupBy().agg() Programmatic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0128" y="3374136"/>
            <a:ext cx="25877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Built aggregation expression lists in a Python loop and unpacked with *agg_exprs. Avoids writing F.avg() nine times manually. Pattern from the SparkSQL practical notebook.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17336" y="2971800"/>
            <a:ext cx="2816352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17336" y="2971800"/>
            <a:ext cx="64008" cy="17373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54496" y="30632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Lazy Evaluation + Checkpoint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3374136"/>
            <a:ext cx="25877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Spark builds a DAG of transformations. Deep DAG from Part A caused StackOverflowError in ALS. .checkpoint() materialises the DataFrame and breaks lineage so ALS serializes a plan of depth 1.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A — EDA: Q1 Distribution, Q2 Feature Profiles, Q3 Timing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Q1 — Attack Type Distribution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BYPass-V1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83080" y="1188720"/>
            <a:ext cx="347472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0" y="114300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560"/>
                </a:solidFill>
              </a:rPr>
              <a:t>78.6%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54533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Flag-SYN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83080" y="1591056"/>
            <a:ext cx="81537" cy="228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10337" y="154533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3460"/>
                </a:solidFill>
              </a:rPr>
              <a:t>1.85%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194767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Flag-ACK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83080" y="1993392"/>
            <a:ext cx="81226" cy="228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10026" y="194767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3460"/>
                </a:solidFill>
              </a:rPr>
              <a:t>1.84%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23500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Flag-ACK-PSH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83080" y="2395728"/>
            <a:ext cx="80553" cy="228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909353" y="235000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3460"/>
                </a:solidFill>
              </a:rPr>
              <a:t>1.82%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275234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RST-ACK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83080" y="2798064"/>
            <a:ext cx="16193" cy="228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44993" y="27523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3460"/>
                </a:solidFill>
              </a:rPr>
              <a:t>0.37%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507492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06324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BYPass-V1 = 78.6% of attack flows. 16 other types: 625–3,147 flows each. Class imbalance → motivates hybrid recommendation in Part B.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32120" y="777240"/>
            <a:ext cx="0" cy="3566160"/>
          </a:xfrm>
          <a:prstGeom prst="line">
            <a:avLst/>
          </a:prstGeom>
          <a:noFill/>
          <a:ln w="12700">
            <a:solidFill>
              <a:srgbClr val="E8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0" y="777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Q2 — Feature Signatures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1115568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9 features selected to cover each traffic dimension: bytes_rate (volume), packets_rate (intensity), duration (timing), payload_bytes_mean (payload), syn + ack flag counts (TCP exploitation), down_up_rate (asymmetry), fwd + bwd packet rates (direction). Computed as average per attack type → centroid vector → passed to Part B content-based layer.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0" y="2514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Q3 — Timing Patterns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2834640"/>
            <a:ext cx="32461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RANK() OVER(ORDER BY AVG(packets_rate) DESC) ranks all 26 activity types in one query.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Key finding: BYPass-V1 ranked LAST at 61.55 pkt/sec but has the MOST flows (134,110). Mechanism = connection state exhaustion, not bandwidth flooding. Each flow: 0.0025 sec, 1.02 packets on average.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A — EDA: Q4 TCP Flag Signatures and Q5 Feature Discrimination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Q4 — TCP Flag Signatures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502920" cy="320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SYN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11612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SYN floods — half-open connections exhaust server state table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502920" cy="320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16184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ACK floods — fake established-session traffic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502920" cy="320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0574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PSH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20756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Combined with ACK in application-layer floods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514600"/>
            <a:ext cx="502920" cy="320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514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" y="2532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Force immediate connection termination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502920" cy="320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9718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2990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Abuse TCP connection teardown mechanism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474720"/>
            <a:ext cx="42062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49300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3460"/>
                </a:solidFill>
              </a:rPr>
              <a:t>Key finding: clearest separator between attack and benign is HIGH SYN + SUPPRESSED ACK + SUPPRESSED FIN. Legitimate TCP always completes handshakes cleanly. Attack flows abort without teardown.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0" cy="3566160"/>
          </a:xfrm>
          <a:prstGeom prst="line">
            <a:avLst/>
          </a:prstGeom>
          <a:noFill/>
          <a:ln w="12700">
            <a:solidFill>
              <a:srgbClr val="E8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Q5 — Feature Discrimination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Method: Attack mean / Benign mean per feature. No model needed — pure descriptive statistics.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1536192"/>
            <a:ext cx="1417320" cy="2743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18888" y="1545336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fwd_init_win_bytes  4.12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263640" y="15453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Manipulates TCP window to evade stateful inspection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2084832"/>
            <a:ext cx="1417320" cy="2743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18888" y="2093976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packets_IAT_mean  1.75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63640" y="209397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Attack flows 0.0025s average, measurable session gaps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2633472"/>
            <a:ext cx="14173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18888" y="2642616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syn_flag_counts  0.73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263640" y="26426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SYN appears in both legitimate connections and SYN floods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0600" y="3182112"/>
            <a:ext cx="14173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18888" y="3191256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ack_flag_counts  0.007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263640" y="31912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Benign-FTP avg ACK = 6,179. Attack aborts without teardown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00600" y="3730752"/>
            <a:ext cx="14173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18888" y="3739896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bytes_rate  0.003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63640" y="37398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FTP transfers files at 2.5M bytes/sec. Attacks carry minimal payload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00600" y="4343400"/>
            <a:ext cx="406908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92040" y="43434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</a:rPr>
              <a:t>These features validate the 9-dimension centroid vectors used in Part B. Each dimension carries real discriminative signal.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B — Recommendation System Design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589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Adapting collaborative filtering to a security domain — no explicit ratings exist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8892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78892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" y="1600200"/>
            <a:ext cx="2560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Network service profiles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grouped by destination port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RDP (3389)  •  HTTPS (443)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HTTP (80)  •  SMB (445)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SSH (22/222)  •  Telnet (23)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Alt-Web (8080/8443)  •  Other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1097280"/>
            <a:ext cx="278892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72968" y="1097280"/>
            <a:ext cx="27889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18688" y="1097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ITEMS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82696" y="1600200"/>
            <a:ext cx="2560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17 distinct DDoS attack types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from the BCCC dataset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Attack-TCP-Flag-SYN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Attack-TCP-BYPass-V1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Attack-TCP-Flag-ACK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and 14 more variants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17336" y="1097280"/>
            <a:ext cx="278892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17336" y="1097280"/>
            <a:ext cx="2788920" cy="45720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63056" y="1097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RATINGS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27064" y="1600200"/>
            <a:ext cx="2560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Flow count as implicit signal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Number of flows of attack X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targeting service Y.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No explicit rating exists —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frequency of exposure is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the behavioural signal.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CF lecture: implicit feedback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611880"/>
            <a:ext cx="86868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611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Interaction Matrix:  8 service profiles (rows)  ×  17 attack types (cols)  =  136 cells  |  Sparsity 0.0%  |  Values = flow counts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41605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This follows the user–item–rating structure from the movie recommendation practical — with flow count replacing star ratings.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B — Collaborative Filtering, ALS, and Content-Based Similarity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Layer 1 — Item-KNN CF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1480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460"/>
                </a:solidFill>
              </a:rPr>
              <a:t>sim(x,y)  =  dot(x,y)  /  ( ‖x‖ × ‖y‖ 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Same cosine formula as the word similarity practical — applied to attack type vectors across 8 service profiles instead of word embeddings.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26280" y="7772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Layer 2 — ALS  (pyspark.ml.recommendation)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078992"/>
            <a:ext cx="4389120" cy="86868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11155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R  ≈  P  ×  Qᵀ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1481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R=interaction matrix. P=service factors. Q=attack type factors. implicitPrefs=True — flow counts = confidence weights. rank=4, maxIter=20. .checkpoint() breaks DAG before fit to prevent StackOverflow.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075688"/>
            <a:ext cx="8549640" cy="0"/>
          </a:xfrm>
          <a:prstGeom prst="line">
            <a:avLst/>
          </a:prstGeom>
          <a:noFill/>
          <a:ln w="12700">
            <a:solidFill>
              <a:srgbClr val="E8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148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Layer 3 — Content-Based Similarity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2468880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Feature centroids from Part A Q2 become the content vectors. StandardScaler normalises all 9 features to mean=0, std=1 before cosine similarity — prevents bytes_rate (in thousands) from dominating syn_flag_counts (0 to 1).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2148840"/>
            <a:ext cx="4389120" cy="1143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2194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</a:rPr>
              <a:t>CF vs Content — Key Contrast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487168"/>
            <a:ext cx="4160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2400E"/>
                </a:solidFill>
              </a:rPr>
              <a:t>CF similarities: all 0.93–1.0 (controlled dataset)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2400E"/>
                </a:solidFill>
              </a:rPr>
              <a:t>Content similarities: -0.93 to 0.99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2400E"/>
                </a:solidFill>
              </a:rPr>
              <a:t>Flag-OSYN and Flag-ACK: CF sim 0.95 but content sim -0.81. They co-occur on the same services but have OPPOSITE traffic mechanisms.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383280"/>
            <a:ext cx="859536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</a:rPr>
              <a:t>Part A → Part B bridge: Part A Q2 saves attack_type_centroids.parquet. Part B Section 5 loads it and uses it directly as content vectors. Q5 discrimination validates all 9 features carry real signal.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39319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Analogy to course: TF-IDF on movie metadata in the content-based practical. Here: centroid vectors on network traffic features. Same formula, different domain.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B — Hybrid Combination, LLM Reflection, and Evaluation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589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Layer 4 — Hybrid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502920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</a:rPr>
              <a:t>hybrid  =  alpha × CF_norm  +  (1 – alpha) × content_norm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7276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Both scores normalised to 0–1 before combining so alpha genuinely controls the balance, not scale difference. alpha=0.6 weights CF (co-occurrence) slightly above content (feature proximity). Five alpha values evaluated: 0.3, 0.5, 0.6, 0.7, 0.9.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658368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30083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α=0.3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56616" y="2331720"/>
            <a:ext cx="585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P@5=1.0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80160" y="2240280"/>
            <a:ext cx="658368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80160" y="30083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α=0.5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16736" y="2331720"/>
            <a:ext cx="585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P@5=1.0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40280" y="2240280"/>
            <a:ext cx="658368" cy="749808"/>
          </a:xfrm>
          <a:prstGeom prst="rect">
            <a:avLst/>
          </a:prstGeom>
          <a:solidFill>
            <a:srgbClr val="E9456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40280" y="30083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α=0.6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76856" y="2331720"/>
            <a:ext cx="585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P@5=1.0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0" y="2240280"/>
            <a:ext cx="658368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0" y="30083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α=0.7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36976" y="2331720"/>
            <a:ext cx="585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P@5=1.0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60520" y="2240280"/>
            <a:ext cx="658368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60520" y="30083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α=0.9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97096" y="2331720"/>
            <a:ext cx="585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P@5=1.0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" y="33101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All alpha values give Precision@5 = 1.0 because the controlled dataset has 0% sparsity. In production with real sparsity, the optimal alpha would be identifiable.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0" y="758952"/>
            <a:ext cx="0" cy="3383280"/>
          </a:xfrm>
          <a:prstGeom prst="line">
            <a:avLst/>
          </a:prstGeom>
          <a:noFill/>
          <a:ln w="12700">
            <a:solidFill>
              <a:srgbClr val="E8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23560" y="758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Layer 5 — LLM Reflection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23560" y="10607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</a:rPr>
              <a:t>Adapted from CRAG (Zhu et al., WWW 2025)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23560" y="1335024"/>
            <a:ext cx="164592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9280" y="13533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CRAG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15200" y="1335024"/>
            <a:ext cx="164592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60920" y="13533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This system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23560" y="1655064"/>
            <a:ext cx="1645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69280" y="16733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Dialogue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15200" y="1655064"/>
            <a:ext cx="1645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60920" y="16733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Attack traffic profile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23560" y="1975104"/>
            <a:ext cx="164592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69280" y="19933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Movie catalog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315200" y="1975104"/>
            <a:ext cx="164592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60920" y="19933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17 DDoS attack types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23560" y="2295144"/>
            <a:ext cx="1645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69280" y="23134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CF retrieval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315200" y="2295144"/>
            <a:ext cx="1645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60920" y="23134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Item-KNN + hybrid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23560" y="2615184"/>
            <a:ext cx="164592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669280" y="2633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LLM reflection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315200" y="2615184"/>
            <a:ext cx="164592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360920" y="2633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GPT-4o-mini reasoning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623560" y="2971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Evaluation Results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23560" y="3273552"/>
            <a:ext cx="1051560" cy="73152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623560" y="329184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4560"/>
                </a:solidFill>
              </a:rPr>
              <a:t>1.0000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5623560" y="36941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AF0"/>
                </a:solidFill>
              </a:rPr>
              <a:t>Precision@5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766560" y="3273552"/>
            <a:ext cx="1051560" cy="73152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766560" y="329184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4560"/>
                </a:solidFill>
              </a:rPr>
              <a:t>0.294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766560" y="36941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AF0"/>
                </a:solidFill>
              </a:rPr>
              <a:t>Recall@5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909560" y="3273552"/>
            <a:ext cx="1051560" cy="73152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909560" y="329184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4560"/>
                </a:solidFill>
              </a:rPr>
              <a:t>859.12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7909560" y="36941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AF0"/>
                </a:solidFill>
              </a:rPr>
              <a:t>ALS RMSE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623560" y="40965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RMSE expected — implicit ALS on flow counts ranging 5 to 133,012 (four orders of magnitude). Quality assessed by Precision@K and Recall@K.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Demo and Conclusions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What Was Built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4560"/>
                </a:solidFill>
              </a:rPr>
              <a:t>→  </a:t>
            </a:r>
            <a:r>
              <a:rPr lang="en-US" sz="950" dirty="0">
                <a:solidFill>
                  <a:srgbClr val="E8EAF0"/>
                </a:solidFill>
              </a:rPr>
              <a:t>Part A: 9-section Spark EDA notebook — SparkSQL, window functions, 5 charts, centroids exported for Part B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63677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4560"/>
                </a:solidFill>
              </a:rPr>
              <a:t>→  </a:t>
            </a:r>
            <a:r>
              <a:rPr lang="en-US" sz="950" dirty="0">
                <a:solidFill>
                  <a:srgbClr val="E8EAF0"/>
                </a:solidFill>
              </a:rPr>
              <a:t>Part B: 9-section recommendation notebook — Item-KNN CF, ALS, content-based, hybrid, LLM reflection, Precision@K evaluation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213055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4560"/>
                </a:solidFill>
              </a:rPr>
              <a:t>→  </a:t>
            </a:r>
            <a:r>
              <a:rPr lang="en-US" sz="950" dirty="0">
                <a:solidFill>
                  <a:srgbClr val="E8EAF0"/>
                </a:solidFill>
              </a:rPr>
              <a:t>Streamlit UI: 7 pages — analytics dashboard and interactive recommendation system with live GPT-4o-mini calls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262432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4560"/>
                </a:solidFill>
              </a:rPr>
              <a:t>→  </a:t>
            </a:r>
            <a:r>
              <a:rPr lang="en-US" sz="950" dirty="0">
                <a:solidFill>
                  <a:srgbClr val="E8EAF0"/>
                </a:solidFill>
              </a:rPr>
              <a:t>Git repository with clean commit history tracking each section as it was built and understood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311810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4560"/>
                </a:solidFill>
              </a:rPr>
              <a:t>→  </a:t>
            </a:r>
            <a:r>
              <a:rPr lang="en-US" sz="950" dirty="0">
                <a:solidFill>
                  <a:srgbClr val="E8EAF0"/>
                </a:solidFill>
              </a:rPr>
              <a:t>README with full run instructions for both Google Colab and local VS Code environments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09160" y="822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Limitations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1430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</a:rPr>
              <a:t>→  </a:t>
            </a:r>
            <a:r>
              <a:rPr lang="en-US" sz="950" dirty="0">
                <a:solidFill>
                  <a:srgbClr val="E8EAF0"/>
                </a:solidFill>
              </a:rPr>
              <a:t>Controlled dataset: 0% sparsity limits the informativeness of Precision@K tuning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09160" y="163677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</a:rPr>
              <a:t>→  </a:t>
            </a:r>
            <a:r>
              <a:rPr lang="en-US" sz="950" dirty="0">
                <a:solidFill>
                  <a:srgbClr val="E8EAF0"/>
                </a:solidFill>
              </a:rPr>
              <a:t>Class imbalance: BYPass-V1 at 78.6% — ALS underweights minority attack types in implicit mode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09160" y="213055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</a:rPr>
              <a:t>→  </a:t>
            </a:r>
            <a:r>
              <a:rPr lang="en-US" sz="950" dirty="0">
                <a:solidFill>
                  <a:srgbClr val="E8EAF0"/>
                </a:solidFill>
              </a:rPr>
              <a:t>No timestamps in merged Parquet — temporal burst analysis needs original packet capture files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09160" y="262432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</a:rPr>
              <a:t>→  </a:t>
            </a:r>
            <a:r>
              <a:rPr lang="en-US" sz="950" dirty="0">
                <a:solidFill>
                  <a:srgbClr val="E8EAF0"/>
                </a:solidFill>
              </a:rPr>
              <a:t>LLM reflection adds API cost — production use would require caching per attack profile cluster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09160" y="311810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</a:rPr>
              <a:t>→  </a:t>
            </a:r>
            <a:r>
              <a:rPr lang="en-US" sz="950" dirty="0">
                <a:solidFill>
                  <a:srgbClr val="E8EAF0"/>
                </a:solidFill>
              </a:rPr>
              <a:t>Small interaction matrix (8×17) — ALS performs better on larger real-world matrices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" y="4526280"/>
            <a:ext cx="8686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Streamlit UI: localhost:8501  |  All computation in PySpark  |  GitHub: https://</a:t>
            </a:r>
            <a:r>
              <a:rPr lang="en-US" sz="1000" dirty="0" err="1">
                <a:solidFill>
                  <a:srgbClr val="FFFFFF"/>
                </a:solidFill>
              </a:rPr>
              <a:t>github.com</a:t>
            </a:r>
            <a:r>
              <a:rPr lang="en-US" sz="1000" dirty="0">
                <a:solidFill>
                  <a:srgbClr val="FFFFFF"/>
                </a:solidFill>
              </a:rPr>
              <a:t>/</a:t>
            </a:r>
            <a:r>
              <a:rPr lang="en-US" sz="1000" dirty="0" err="1">
                <a:solidFill>
                  <a:srgbClr val="FFFFFF"/>
                </a:solidFill>
              </a:rPr>
              <a:t>ITToday</a:t>
            </a:r>
            <a:r>
              <a:rPr lang="en-US" sz="1000" dirty="0">
                <a:solidFill>
                  <a:srgbClr val="FFFFFF"/>
                </a:solidFill>
              </a:rPr>
              <a:t>/</a:t>
            </a:r>
            <a:r>
              <a:rPr lang="en-US" sz="1000" dirty="0" err="1">
                <a:solidFill>
                  <a:srgbClr val="FFFFFF"/>
                </a:solidFill>
              </a:rPr>
              <a:t>ddos</a:t>
            </a:r>
            <a:r>
              <a:rPr lang="en-US" sz="1000" dirty="0">
                <a:solidFill>
                  <a:srgbClr val="FFFFFF"/>
                </a:solidFill>
              </a:rPr>
              <a:t>-bigdata-</a:t>
            </a:r>
            <a:r>
              <a:rPr lang="en-US" sz="1000" dirty="0" err="1">
                <a:solidFill>
                  <a:srgbClr val="FFFFFF"/>
                </a:solidFill>
              </a:rPr>
              <a:t>project.git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1832</Words>
  <Application>Microsoft Macintosh PowerPoint</Application>
  <PresentationFormat>On-screen Show (16:9)</PresentationFormat>
  <Paragraphs>222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DDoS Big Data Analytics and Recommendation System</dc:title>
  <dc:subject>PptxGenJS Presentation</dc:subject>
  <dc:creator>Benjamine</dc:creator>
  <cp:lastModifiedBy>Benjamine Sahayanathan</cp:lastModifiedBy>
  <cp:revision>3</cp:revision>
  <dcterms:created xsi:type="dcterms:W3CDTF">2026-05-13T14:33:42Z</dcterms:created>
  <dcterms:modified xsi:type="dcterms:W3CDTF">2026-05-13T14:49:05Z</dcterms:modified>
</cp:coreProperties>
</file>